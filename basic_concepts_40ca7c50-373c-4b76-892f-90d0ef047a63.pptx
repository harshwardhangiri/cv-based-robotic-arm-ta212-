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6D274F-C178-4202-8C35-49ADA0983E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49420-E31B-4664-A4A7-28A2E6C254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C59B24-EE8A-4835-AF88-2944E107AB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C33082-723B-48BF-A56C-E0F04E4B5B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24BD3C-96DA-42C4-929C-F6C67A441B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40000" y="90000"/>
            <a:ext cx="8999640" cy="45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6031A2-AAF2-49C1-88FA-B8C83A0E3C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B135AF-8BF4-4A29-92F5-E151185FE3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E33052-279E-47C7-A9BF-79CCE86BF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8FFF17-014D-437F-843D-630B7E6517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8C0B99-CD7D-4E23-AE6C-F1DF078228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A8A822-8C0D-4BF2-ADD7-AE84CC8594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4F98F4-29CE-4392-8239-878C2C4D63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V="1">
            <a:off x="0" y="-720"/>
            <a:ext cx="10079640" cy="10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ffffff"/>
              </a:solidFill>
              <a:latin typeface="Source Sans Pro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9640" cy="4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484848"/>
                </a:solidFill>
                <a:latin typeface="Source Sans Pro"/>
              </a:rPr>
              <a:t>&lt;footer&gt;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7200000" y="5130000"/>
            <a:ext cx="2339640" cy="4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828C2D-33F9-412C-9D48-F2E856B8F306}" type="slidenum">
              <a:rPr b="0" lang="en-IN" sz="2400" spc="-1" strike="noStrike">
                <a:solidFill>
                  <a:srgbClr val="484848"/>
                </a:solidFill>
                <a:latin typeface="Source Sans Pro"/>
              </a:rPr>
              <a:t>&lt;number&gt;</a:t>
            </a:fld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540000" y="5130000"/>
            <a:ext cx="2339640" cy="4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youtu.be/dfY5ZQDzC5s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youtu.be/6t7lpR3TIcs" TargetMode="External"/><Relationship Id="rId3" Type="http://schemas.openxmlformats.org/officeDocument/2006/relationships/hyperlink" Target="https://youtu.be/wvVXLBGJ1oI" TargetMode="External"/><Relationship Id="rId4" Type="http://schemas.openxmlformats.org/officeDocument/2006/relationships/hyperlink" Target="https://youtu.be/0shLv2_Rtnc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youtu.be/XggxeuFDaDU" TargetMode="External"/><Relationship Id="rId3" Type="http://schemas.openxmlformats.org/officeDocument/2006/relationships/hyperlink" Target="https://youtu.be/e21ZjwZGjiQ" TargetMode="External"/><Relationship Id="rId4" Type="http://schemas.openxmlformats.org/officeDocument/2006/relationships/hyperlink" Target="https://youtu.be/K5Vw2ZDe-G0" TargetMode="External"/><Relationship Id="rId5" Type="http://schemas.openxmlformats.org/officeDocument/2006/relationships/hyperlink" Target="https://youtu.be/iMT76ZQlmMM" TargetMode="External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86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2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4500" spc="-1" strike="noStrike">
                <a:solidFill>
                  <a:srgbClr val="ffffff"/>
                </a:solidFill>
                <a:latin typeface="Source Sans Pro Light"/>
              </a:rPr>
              <a:t>AE 211: Incompressible Aerodynamics</a:t>
            </a:r>
            <a:endParaRPr b="0" lang="en-IN" sz="4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8894880" y="0"/>
            <a:ext cx="1101600" cy="1079640"/>
          </a:xfrm>
          <a:prstGeom prst="rect">
            <a:avLst/>
          </a:prstGeom>
          <a:ln w="18000">
            <a:noFill/>
          </a:ln>
        </p:spPr>
      </p:pic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180000" y="1260000"/>
            <a:ext cx="971964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3465a4"/>
              </a:buClr>
              <a:buSzPct val="45000"/>
              <a:buFont typeface="Wingdings" charset="2"/>
              <a:buChar char=""/>
            </a:pPr>
            <a:r>
              <a:rPr b="1" i="1" lang="en-IN" sz="2400" spc="-1" strike="noStrike">
                <a:solidFill>
                  <a:srgbClr val="3465a4"/>
                </a:solidFill>
                <a:latin typeface="Source Sans Pro"/>
                <a:hlinkClick r:id="rId2"/>
              </a:rPr>
              <a:t>Wing-tip / Trailing Vortices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</a:rPr>
              <a:t>Induced Drag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</a:rPr>
              <a:t>Downwash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</a:rPr>
              <a:t>Wake Turbulence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3"/>
          <a:stretch/>
        </p:blipFill>
        <p:spPr>
          <a:xfrm>
            <a:off x="296280" y="1800000"/>
            <a:ext cx="3023280" cy="2339640"/>
          </a:xfrm>
          <a:prstGeom prst="rect">
            <a:avLst/>
          </a:prstGeom>
          <a:ln w="18000">
            <a:noFill/>
          </a:ln>
        </p:spPr>
      </p:pic>
      <p:sp>
        <p:nvSpPr>
          <p:cNvPr id="46" name=""/>
          <p:cNvSpPr/>
          <p:nvPr/>
        </p:nvSpPr>
        <p:spPr>
          <a:xfrm>
            <a:off x="955080" y="4140000"/>
            <a:ext cx="1384560" cy="2444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0" i="1" lang="en-IN" sz="1000" spc="-1" strike="noStrike">
                <a:solidFill>
                  <a:srgbClr val="000000"/>
                </a:solidFill>
                <a:latin typeface="Source Sans Pro"/>
              </a:rPr>
              <a:t>Courtesy: NASA Langley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4"/>
          <a:stretch/>
        </p:blipFill>
        <p:spPr>
          <a:xfrm>
            <a:off x="3319920" y="1800000"/>
            <a:ext cx="2921760" cy="2339640"/>
          </a:xfrm>
          <a:prstGeom prst="rect">
            <a:avLst/>
          </a:prstGeom>
          <a:ln w="18000">
            <a:noFill/>
          </a:ln>
        </p:spPr>
      </p:pic>
      <p:pic>
        <p:nvPicPr>
          <p:cNvPr id="48" name="" descr=""/>
          <p:cNvPicPr/>
          <p:nvPr/>
        </p:nvPicPr>
        <p:blipFill>
          <a:blip r:embed="rId5"/>
          <a:stretch/>
        </p:blipFill>
        <p:spPr>
          <a:xfrm>
            <a:off x="6239880" y="1800000"/>
            <a:ext cx="3839760" cy="2159640"/>
          </a:xfrm>
          <a:prstGeom prst="rect">
            <a:avLst/>
          </a:prstGeom>
          <a:ln w="18000">
            <a:noFill/>
          </a:ln>
        </p:spPr>
      </p:pic>
      <p:sp>
        <p:nvSpPr>
          <p:cNvPr id="49" name=""/>
          <p:cNvSpPr/>
          <p:nvPr/>
        </p:nvSpPr>
        <p:spPr>
          <a:xfrm>
            <a:off x="7435080" y="4075200"/>
            <a:ext cx="1326600" cy="2444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0" i="1" lang="en-IN" sz="1000" spc="-1" strike="noStrike">
                <a:solidFill>
                  <a:srgbClr val="000000"/>
                </a:solidFill>
                <a:latin typeface="Source Sans Pro"/>
              </a:rPr>
              <a:t>Courtesy: Ryoh Isihara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35720" y="4392720"/>
            <a:ext cx="72360" cy="313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20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20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5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86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2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4500" spc="-1" strike="noStrike">
                <a:solidFill>
                  <a:srgbClr val="ffffff"/>
                </a:solidFill>
                <a:latin typeface="Source Sans Pro Light"/>
              </a:rPr>
              <a:t>AE 211: Incompressible Aerodynamics</a:t>
            </a:r>
            <a:endParaRPr b="0" lang="en-IN" sz="4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8894880" y="0"/>
            <a:ext cx="1101600" cy="1079640"/>
          </a:xfrm>
          <a:prstGeom prst="rect">
            <a:avLst/>
          </a:prstGeom>
          <a:ln w="18000">
            <a:noFill/>
          </a:ln>
        </p:spPr>
      </p:pic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180000" y="1260000"/>
            <a:ext cx="9719640" cy="43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3465a4"/>
              </a:buClr>
              <a:buSzPct val="45000"/>
              <a:buFont typeface="Wingdings" charset="2"/>
              <a:buChar char=""/>
            </a:pPr>
            <a:r>
              <a:rPr b="1" i="1" lang="en-IN" sz="2400" spc="-1" strike="noStrike">
                <a:solidFill>
                  <a:srgbClr val="3465a4"/>
                </a:solidFill>
                <a:latin typeface="Source Sans Pro"/>
                <a:hlinkClick r:id="rId2"/>
              </a:rPr>
              <a:t>Aerodynamic Forces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</a:rPr>
              <a:t>Lift </a:t>
            </a:r>
            <a:r>
              <a:rPr b="1" lang="en-IN" sz="1400" spc="-1" strike="noStrike">
                <a:solidFill>
                  <a:srgbClr val="3465a4"/>
                </a:solidFill>
                <a:latin typeface="Standard Symbols PS"/>
                <a:ea typeface="Standard Symbols PS"/>
              </a:rPr>
              <a:t>^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</a:rPr>
              <a:t> flow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1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  <a:hlinkClick r:id="rId3"/>
              </a:rPr>
              <a:t> Drag || flow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</a:rPr>
              <a:t>Moments, Side Force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0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</a:rPr>
              <a:t> </a:t>
            </a:r>
            <a:r>
              <a:rPr b="1" lang="en-IN" sz="1400" spc="-1" strike="noStrike">
                <a:solidFill>
                  <a:srgbClr val="3465a4"/>
                </a:solidFill>
                <a:latin typeface="Source Sans Pro"/>
                <a:ea typeface="Standard Symbols PS"/>
                <a:hlinkClick r:id="rId4"/>
              </a:rPr>
              <a:t>Rotating wings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955080" y="4140000"/>
            <a:ext cx="605880" cy="2444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0" i="1" lang="en-IN" sz="1000" spc="-1" strike="noStrike">
                <a:solidFill>
                  <a:srgbClr val="000000"/>
                </a:solidFill>
                <a:latin typeface="Source Sans Pro"/>
              </a:rPr>
              <a:t>2D Model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300000" y="3715200"/>
            <a:ext cx="505080" cy="2444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r>
              <a:rPr b="0" i="1" lang="en-IN" sz="1000" spc="-1" strike="noStrike">
                <a:solidFill>
                  <a:srgbClr val="000000"/>
                </a:solidFill>
                <a:latin typeface="Source Sans Pro"/>
              </a:rPr>
              <a:t>3D case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35720" y="4392720"/>
            <a:ext cx="72360" cy="313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Source Sans Pro"/>
            </a:endParaRPr>
          </a:p>
        </p:txBody>
      </p:sp>
      <p:pic>
        <p:nvPicPr>
          <p:cNvPr id="57" name="" descr=""/>
          <p:cNvPicPr/>
          <p:nvPr/>
        </p:nvPicPr>
        <p:blipFill>
          <a:blip r:embed="rId5"/>
          <a:stretch/>
        </p:blipFill>
        <p:spPr>
          <a:xfrm>
            <a:off x="243360" y="1800000"/>
            <a:ext cx="3051000" cy="2339640"/>
          </a:xfrm>
          <a:prstGeom prst="rect">
            <a:avLst/>
          </a:prstGeom>
          <a:ln w="18000">
            <a:noFill/>
          </a:ln>
        </p:spPr>
      </p:pic>
      <p:pic>
        <p:nvPicPr>
          <p:cNvPr id="58" name="" descr=""/>
          <p:cNvPicPr/>
          <p:nvPr/>
        </p:nvPicPr>
        <p:blipFill>
          <a:blip r:embed="rId6"/>
          <a:stretch/>
        </p:blipFill>
        <p:spPr>
          <a:xfrm>
            <a:off x="3310200" y="1800000"/>
            <a:ext cx="6409440" cy="1799640"/>
          </a:xfrm>
          <a:prstGeom prst="rect">
            <a:avLst/>
          </a:prstGeom>
          <a:ln w="18000">
            <a:noFill/>
          </a:ln>
        </p:spPr>
      </p:pic>
      <p:sp>
        <p:nvSpPr>
          <p:cNvPr id="59" name=""/>
          <p:cNvSpPr/>
          <p:nvPr/>
        </p:nvSpPr>
        <p:spPr>
          <a:xfrm>
            <a:off x="3310200" y="3146400"/>
            <a:ext cx="289440" cy="453240"/>
          </a:xfrm>
          <a:prstGeom prst="rect">
            <a:avLst/>
          </a:prstGeom>
          <a:solidFill>
            <a:srgbClr val="fafafa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60" name=""/>
          <p:cNvSpPr/>
          <p:nvPr/>
        </p:nvSpPr>
        <p:spPr>
          <a:xfrm rot="21432600">
            <a:off x="7204320" y="3138840"/>
            <a:ext cx="289440" cy="453240"/>
          </a:xfrm>
          <a:prstGeom prst="rect">
            <a:avLst/>
          </a:prstGeom>
          <a:solidFill>
            <a:srgbClr val="fafafa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>
        <p14:glitter dir="l" pattern="hexagon"/>
      </p:transition>
    </mc:Choice>
    <mc:Fallback>
      <p:transition spd="slow">
        <p:fade/>
      </p:transition>
    </mc:Fallback>
  </mc:AlternateContent>
  <p:timing>
    <p:tnLst>
      <p:par>
        <p:cTn id="36" dur="indefinite" restart="never" nodeType="tmRoot">
          <p:childTnLst>
            <p:seq>
              <p:cTn id="37" dur="indefinite" nodeType="mainSeq">
                <p:childTnLst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200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2000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2000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4" dur="500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86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2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4500" spc="-1" strike="noStrike">
                <a:solidFill>
                  <a:srgbClr val="ffffff"/>
                </a:solidFill>
                <a:latin typeface="Source Sans Pro Light"/>
              </a:rPr>
              <a:t>AE 211: Incompressible Aerodynamics</a:t>
            </a:r>
            <a:endParaRPr b="0" lang="en-IN" sz="4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8894880" y="0"/>
            <a:ext cx="1101600" cy="1079640"/>
          </a:xfrm>
          <a:prstGeom prst="rect">
            <a:avLst/>
          </a:prstGeom>
          <a:ln w="18000">
            <a:noFill/>
          </a:ln>
        </p:spPr>
      </p:pic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80000" y="1260000"/>
            <a:ext cx="971964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3465a4"/>
              </a:buClr>
              <a:buSzPct val="45000"/>
              <a:buFont typeface="Wingdings" charset="2"/>
              <a:buChar char=""/>
            </a:pPr>
            <a:r>
              <a:rPr b="1" i="1" lang="en-IN" sz="2400" spc="-1" strike="noStrike" u="sng">
                <a:solidFill>
                  <a:srgbClr val="3465a4"/>
                </a:solidFill>
                <a:uFillTx/>
                <a:latin typeface="Source Sans Pro"/>
              </a:rPr>
              <a:t>Things can go wrong...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1" lang="en-IN" sz="1600" spc="-1" strike="noStrike">
                <a:solidFill>
                  <a:srgbClr val="3465a4"/>
                </a:solidFill>
                <a:latin typeface="Source Sans Pro"/>
                <a:hlinkClick r:id="rId2"/>
              </a:rPr>
              <a:t> Flow-induced Oscillations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1" lang="en-IN" sz="1600" spc="-1" strike="noStrike">
                <a:solidFill>
                  <a:srgbClr val="3465a4"/>
                </a:solidFill>
                <a:latin typeface="Source Sans Pro"/>
                <a:ea typeface="Noto Sans CJK SC"/>
              </a:rPr>
              <a:t> </a:t>
            </a:r>
            <a:r>
              <a:rPr b="1" lang="en-IN" sz="1600" spc="-1" strike="noStrike">
                <a:solidFill>
                  <a:srgbClr val="3465a4"/>
                </a:solidFill>
                <a:latin typeface="Source Sans Pro"/>
                <a:hlinkClick r:id="rId3"/>
              </a:rPr>
              <a:t>Unintended Lift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1" lang="en-IN" sz="1600" spc="-1" strike="noStrike">
                <a:solidFill>
                  <a:srgbClr val="3465a4"/>
                </a:solidFill>
                <a:latin typeface="Source Sans Pro"/>
                <a:hlinkClick r:id="rId4"/>
              </a:rPr>
              <a:t> Not enough Drag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36000" indent="-216000">
              <a:lnSpc>
                <a:spcPct val="100000"/>
              </a:lnSpc>
              <a:spcBef>
                <a:spcPts val="567"/>
              </a:spcBef>
              <a:buClr>
                <a:srgbClr val="3465a4"/>
              </a:buClr>
              <a:buSzPct val="80000"/>
              <a:buFont typeface="Wingdings" charset="2"/>
              <a:buChar char=""/>
              <a:tabLst>
                <a:tab algn="l" pos="0"/>
              </a:tabLst>
            </a:pPr>
            <a:r>
              <a:rPr b="1" lang="en-IN" sz="1600" spc="-1" strike="noStrike">
                <a:solidFill>
                  <a:srgbClr val="3465a4"/>
                </a:solidFill>
                <a:latin typeface="Source Sans Pro"/>
              </a:rPr>
              <a:t> </a:t>
            </a:r>
            <a:r>
              <a:rPr b="1" lang="en-IN" sz="1600" spc="-1" strike="noStrike">
                <a:solidFill>
                  <a:srgbClr val="3465a4"/>
                </a:solidFill>
                <a:latin typeface="Source Sans Pro"/>
                <a:hlinkClick r:id="rId5"/>
              </a:rPr>
              <a:t>Not enough Thrust??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5720" y="4392720"/>
            <a:ext cx="72360" cy="313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>
        <p14:glitter dir="l" pattern="hexagon"/>
      </p:transition>
    </mc:Choice>
    <mc:Fallback>
      <p:transition spd="slow">
        <p:fade/>
      </p:transition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3" dur="312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94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Vivid</Template>
  <TotalTime>76</TotalTime>
  <Application>LibreOffice/7.5.9.2$Linux_X86_64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2026-01-04T14:27:33Z</dcterms:created>
  <dc:creator>Arnab</dc:creator>
  <dc:description/>
  <dc:language>en-IN</dc:language>
  <cp:lastModifiedBy/>
  <dcterms:modified xsi:type="dcterms:W3CDTF">2026-01-04T17:32:24Z</dcterms:modified>
  <cp:revision>12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